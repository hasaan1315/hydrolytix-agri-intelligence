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6" r:id="rId1"/>
    <p:sldMasterId id="2147483983" r:id="rId2"/>
  </p:sldMasterIdLst>
  <p:sldIdLst>
    <p:sldId id="256" r:id="rId3"/>
    <p:sldId id="266" r:id="rId4"/>
    <p:sldId id="267" r:id="rId5"/>
    <p:sldId id="268" r:id="rId6"/>
    <p:sldId id="25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66" d="100"/>
          <a:sy n="66" d="100"/>
        </p:scale>
        <p:origin x="5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573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7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67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3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9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4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18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9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8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6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9564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71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0573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52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32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39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FE7B-0C1F-4B1C-82F1-8C2A1C637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879A6-B965-436D-9DE0-C737CBDBD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00C94-5BE4-4EC4-8F20-A3DCFEEA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1C89C-29F8-4288-8A5D-E116DA056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BB6BE-9033-455A-A631-B1267729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859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8182-9757-403C-B89F-F54CC76FD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AB567-231F-4E6D-9E6E-187DED977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6CABB-92BC-4C1E-A806-EC31EA71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B517B-967E-4ECA-9AB4-67D2B3926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9BA34-7744-48E8-9B32-428D84D9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21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2069-A962-4ED5-B2F0-9E4DC4492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47D2D-EDDE-4DCC-A9F4-F18D4FEEF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1077F-FA42-4086-B7B6-DAE80CAB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DE0E0-6A3A-41D9-8AEA-F545FDA2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A2F69-1B2F-4103-AE01-B543B7ECB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457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3EA5-AD33-44EF-9FC6-2622EF3C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AD8D3-9D56-46A8-96E4-FC9148FAC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181B4-429A-45EF-9017-3394971FB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2E4C5-E13E-47AB-9614-9DD69027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C23E2-1C96-427E-8323-44D6D4A3C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972AD-B4AA-4248-8AC0-72A1F0F2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949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A257E-BDFE-4667-8994-E15CAC026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D2851-8A73-4B45-B24D-D013084FB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748F3-0E55-4959-9FFC-2C997F475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E6246-45EA-4527-93D1-BDCC71C33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FE454A-B110-468B-B5EE-866BB68AE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D1F7C-3D91-4485-96A7-F2F935B2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517CA-C478-4DF0-9C37-97984886D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9E9123-4D79-436C-AB9A-58F647AC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307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1742-B660-473E-A7D3-AE214978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EFD03-9724-43FA-9119-74D99EDA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53D17-48FE-4652-AFA5-1F435BE0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5BDEA-36C5-4A75-B249-A76BF557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552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9C343-080B-4CC7-86DD-E13613D7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7ADD7-61C7-4F52-A479-71F22093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E9A87-6BA4-4977-B580-B54000A6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522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38867-8507-42F4-82F1-3297F867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8FAC-46D7-4F82-AE6B-88F4E2EFF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5B17E-BCB1-463B-BF6A-E3B8182A1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7AAB9-2A1A-457B-BFFC-171BCD0E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FBBB8-8475-4521-89FF-9DC9D43F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CA530-8AD3-449C-9742-DF4082AD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427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B661-1185-4C35-9592-115F89D9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0612F3-2AFA-4684-A9ED-7BB8A2777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B0F66-EAFC-45CB-8F49-66D3A60E5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02C94-E91F-4AA2-A196-E3AFCBBE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745CE-BDBF-4381-B01F-09D5AD95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DCE2F-1132-4E6B-877C-E450322AB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67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B0CEF-F1D1-45E4-86D2-2F0908E7A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17685-2761-42C7-8A49-C7BC30D78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62307-E98F-4488-82B9-682FB776D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3EFCC-862C-4FAA-88FB-0EC0E6B2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780AD-E016-4882-B748-870EE0F8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952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8A8B9-CC1F-4BF3-8DBB-42187F654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94E83-3F61-4633-BD0B-A5FB9CF10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0DB77-890E-47F0-AD74-6E583099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AD06A-ECA3-4097-A1DE-88F08D79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3849B-1AC8-48C2-AAC6-08BE4121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5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16A0C-688D-404C-937F-E5EB6179AAE5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850A4DF-726E-4AFC-9445-0BCDDABD5E63}" type="slidenum">
              <a:rPr lang="en-US" smtClean="0"/>
              <a:t>‹#›</a:t>
            </a:fld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C70CF6E-E868-49A6-A383-1E46B1A0F612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035" y="0"/>
            <a:ext cx="2529417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  <p:sldLayoutId id="2147483979" r:id="rId13"/>
    <p:sldLayoutId id="2147483980" r:id="rId14"/>
    <p:sldLayoutId id="2147483981" r:id="rId15"/>
    <p:sldLayoutId id="214748398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1801EE-92A5-46D3-81E1-C0DE1B89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FB0A0-3B8F-4E22-883F-8D58B2C02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81636-BF8D-47DE-909C-73C6E423C6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ADB81-1E9E-4696-B8FC-F6FECABEA39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2B5C6-3FD8-44F2-B3F5-FBBA448CC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Global Environmental Network for Innovation &amp; Intelligence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F73AF-3DDA-46CF-BC6B-9491FF6C1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AF08D-9DE5-440F-B272-C8A79D92B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0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85DF-400C-4AE2-9B4B-085BA878AA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Hydrolytix: AI-Powered Agri Intelligence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5B394-9312-4290-8449-09E9AAB523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Muhammad Hasaan</a:t>
            </a:r>
            <a:endParaRPr dirty="0"/>
          </a:p>
          <a:p>
            <a:r>
              <a:rPr dirty="0"/>
              <a:t>Pakistan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E447E-00F9-4ED5-B0A4-2A215F02D2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28577" y="1029279"/>
            <a:ext cx="1934845" cy="19348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0962777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305A-C1B1-4DCA-B2D5-A54714B85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553" y="729987"/>
            <a:ext cx="8911687" cy="1280890"/>
          </a:xfrm>
        </p:spPr>
        <p:txBody>
          <a:bodyPr>
            <a:normAutofit/>
          </a:bodyPr>
          <a:lstStyle/>
          <a:p>
            <a:r>
              <a:rPr lang="en-US" sz="4400" b="1" dirty="0"/>
              <a:t>Introduction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83B3-1791-44FA-B705-98BE30681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Hydrolytix is an AI-powered agricultural intelligence dashboard.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transforms raw crop data into actionable insights for policymakers, farmers, and researchers.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2581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5989D-F77D-41AF-BB47-28D6D3156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6554" y="672236"/>
            <a:ext cx="8911687" cy="1280890"/>
          </a:xfrm>
        </p:spPr>
        <p:txBody>
          <a:bodyPr>
            <a:normAutofit/>
          </a:bodyPr>
          <a:lstStyle/>
          <a:p>
            <a:r>
              <a:rPr lang="en-US" sz="4400" b="1" dirty="0"/>
              <a:t>Problem Statement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1E9EB-9E97-463A-95C4-26709074D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Agricultural datasets are often underutilized due to complexity.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Decision-makers lack interactive tools for analysis, forecasting, and reporting.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8226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F8A5-F226-4384-9DED-02107F67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Solution Overview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C94F-8A13-410C-8361-EBAD29305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377762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Hydrolytix provides: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Interactive dashboards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Data preprocessing pipeline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Forecasting models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Exportable reports (CSV/PDF)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97239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3E7F-2467-4FA3-A3C0-3F4D12B04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1" dirty="0"/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D02B-B892-4A7D-A309-0269F23B3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Deliver real-time agricultural insights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Simplify data-driven decision making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Provide forecasting for future crop trends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Support sustainable farming practices</a:t>
            </a:r>
          </a:p>
        </p:txBody>
      </p:sp>
    </p:spTree>
    <p:extLst>
      <p:ext uri="{BB962C8B-B14F-4D97-AF65-F5344CB8AC3E}">
        <p14:creationId xmlns:p14="http://schemas.microsoft.com/office/powerpoint/2010/main" val="2586469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789C8-E19C-4452-845B-81D391A19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System Architecture</a:t>
            </a:r>
            <a:endParaRPr lang="en-PK" sz="4400" b="1" dirty="0"/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2C4A406B-AE8D-469F-9959-CD4C61B7F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081" y="1414914"/>
            <a:ext cx="7786837" cy="5062888"/>
          </a:xfrm>
        </p:spPr>
      </p:pic>
    </p:spTree>
    <p:extLst>
      <p:ext uri="{BB962C8B-B14F-4D97-AF65-F5344CB8AC3E}">
        <p14:creationId xmlns:p14="http://schemas.microsoft.com/office/powerpoint/2010/main" val="782358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9C988-0263-4417-AB91-6B42B5FD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Technology Stack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F6BBB-89C3-4BA2-9378-949C9BB1B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Dash (Flask-based)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Pandas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Plotly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ReportLab</a:t>
            </a:r>
            <a:r>
              <a:rPr lang="en-US" sz="2800" dirty="0"/>
              <a:t> (PDF reports)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6489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5509-4B04-42AD-A17F-59F62F904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Dataset Overview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6BFF4-9BFD-4699-874D-4F8BB5334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90838"/>
            <a:ext cx="8915400" cy="3777622"/>
          </a:xfrm>
        </p:spPr>
        <p:txBody>
          <a:bodyPr/>
          <a:lstStyle/>
          <a:p>
            <a:r>
              <a:rPr lang="en-US" sz="2800" dirty="0"/>
              <a:t>Source: Punjab Agricultural Data (CSV)</a:t>
            </a:r>
          </a:p>
          <a:p>
            <a:r>
              <a:rPr lang="en-US" sz="2800" dirty="0"/>
              <a:t>Fields: Year, Season, Area under Production, Burned Area, Difference, % Difference</a:t>
            </a:r>
          </a:p>
          <a:p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D37FA-2C3E-48F0-9761-9BE2DA35BA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27172" y="3386489"/>
            <a:ext cx="7378262" cy="257240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9297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87CB-6DE8-4B8C-9AC7-02559873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Preprocessing Workflow</a:t>
            </a:r>
            <a:endParaRPr lang="en-PK" sz="4400" b="1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8BB6C64-7C44-4990-B734-8170DF58D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5823" y="1758214"/>
            <a:ext cx="7324826" cy="4584833"/>
          </a:xfrm>
        </p:spPr>
      </p:pic>
    </p:spTree>
    <p:extLst>
      <p:ext uri="{BB962C8B-B14F-4D97-AF65-F5344CB8AC3E}">
        <p14:creationId xmlns:p14="http://schemas.microsoft.com/office/powerpoint/2010/main" val="277674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9B9E-126E-46D0-967F-E4F2426B9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Dashboard Features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258C5-9685-4848-8E76-A5DC51014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Overview (KPIs, donut chart, trends)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Year Comparison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Forecasting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Trend Analysis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Export &amp; Reports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82660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A142-F5F0-4A7C-8942-6407508C0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Navigation and Layout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D0E82-413A-4C79-A672-11B7EF11A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/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tabLst>
                <a:tab pos="457200" algn="l"/>
              </a:tabLst>
            </a:pPr>
            <a:r>
              <a:rPr kumimoji="0" lang="en-GB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Navigation Tabs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Located at the top of the interface for switching between modules.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tabLst>
                <a:tab pos="457200" algn="l"/>
              </a:tabLst>
            </a:pPr>
            <a:r>
              <a:rPr kumimoji="0" lang="en-GB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Filter Panel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Dropdowns for </a:t>
            </a:r>
            <a:r>
              <a:rPr kumimoji="0" lang="en-GB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Year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altLang="en-US" sz="2800" dirty="0">
                <a:solidFill>
                  <a:srgbClr val="00000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GB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Season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>
              <a:lnSpc>
                <a:spcPct val="150000"/>
              </a:lnSpc>
            </a:pPr>
            <a:r>
              <a:rPr lang="en-US" altLang="en-US" sz="2800" b="1" dirty="0">
                <a:solidFill>
                  <a:srgbClr val="000000"/>
                </a:solidFill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Dynamic Content Area</a:t>
            </a:r>
            <a:r>
              <a:rPr lang="en-US" altLang="en-US" sz="2800" dirty="0">
                <a:solidFill>
                  <a:srgbClr val="000000"/>
                </a:solidFill>
                <a:latin typeface="+mj-lt"/>
                <a:ea typeface="MS Mincho" charset="-128"/>
                <a:cs typeface="Times New Roman" panose="02020603050405020304" pitchFamily="18" charset="0"/>
              </a:rPr>
              <a:t>: Charts, KPIs, and reports update in real-time based on filter selections</a:t>
            </a:r>
            <a:r>
              <a:rPr lang="en-GB" altLang="en-US" sz="2800" dirty="0">
                <a:latin typeface="+mj-lt"/>
                <a:cs typeface="Times New Roman" panose="02020603050405020304" pitchFamily="18" charset="0"/>
              </a:rPr>
              <a:t>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52563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FF3A1673-D7E7-499F-95B5-3C099C14277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882766" y="461217"/>
            <a:ext cx="6913984" cy="2898483"/>
          </a:xfrm>
          <a:prstGeom prst="rect">
            <a:avLst/>
          </a:prstGeom>
        </p:spPr>
      </p:pic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381DDDF4-872C-4C87-A779-EC39803124D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82766" y="3230368"/>
            <a:ext cx="6913984" cy="316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52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8F77A-1E06-4CB0-95ED-FF65AE72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Interactive Visualizations</a:t>
            </a:r>
            <a:endParaRPr lang="en-PK" sz="4400" b="1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388B3B6-B3CE-4540-BD1D-EA19C6CA3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7643" y="1681213"/>
            <a:ext cx="6641432" cy="4552677"/>
          </a:xfr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0944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584B-4A6B-4C23-B11F-434ACFE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7552102" cy="1280890"/>
          </a:xfrm>
        </p:spPr>
        <p:txBody>
          <a:bodyPr>
            <a:noAutofit/>
          </a:bodyPr>
          <a:lstStyle/>
          <a:p>
            <a:r>
              <a:rPr lang="en-US" sz="4400" b="1" dirty="0"/>
              <a:t>Key Performance Indicators (KPIs)</a:t>
            </a:r>
            <a:endParaRPr lang="en-PK" sz="4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A091A0-2AF8-410C-8C6D-2F3A7F1F187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543" y="2268353"/>
            <a:ext cx="7767244" cy="404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16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E92D-26C7-40CC-B5DA-772E6CBD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313" y="450855"/>
            <a:ext cx="8911687" cy="1280890"/>
          </a:xfrm>
        </p:spPr>
        <p:txBody>
          <a:bodyPr>
            <a:normAutofit/>
          </a:bodyPr>
          <a:lstStyle/>
          <a:p>
            <a:r>
              <a:rPr lang="en-US" sz="4400" b="1" dirty="0"/>
              <a:t>Year Comparison Tab</a:t>
            </a:r>
            <a:endParaRPr lang="en-PK" sz="44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C197C9-FA0D-47BB-BAF2-79FFF8E517D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2432" y="1525822"/>
            <a:ext cx="7426974" cy="25745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11D2CD-87E0-42DA-8B81-E7581AD873E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62432" y="4100361"/>
            <a:ext cx="7426974" cy="257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1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880E-B0F8-4DE4-90CB-6AC63D63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Forecasting Models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23CD2-5CA1-48AF-83C7-9DBFA0384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377762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ARIMA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Exponential Smoothing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Use Cases: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	- Predict future production trends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	- Identify seasonal impacts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66210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F0BC-6686-4C5A-80F4-2F2775DAE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5459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Forecasting Tab</a:t>
            </a:r>
            <a:endParaRPr lang="en-PK" sz="4400" b="1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27CB510-BEDD-433E-B45C-5E53302CA45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2101852"/>
            <a:ext cx="5242560" cy="3778250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1E4098B5-C62C-4B57-B36E-9F15CFB91DB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19521" y="2079629"/>
            <a:ext cx="5334000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2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385B-B480-4518-9FE4-9AE322A2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6635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Trend Analysis Tab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E5DF4-EA1A-4824-AB55-7F8490948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C33A09-99CE-4458-9B26-0A71056C2FB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" y="2064892"/>
            <a:ext cx="5090160" cy="3915038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0A3C0210-F144-42CB-945F-B8F63A50C9D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21697"/>
            <a:ext cx="5384802" cy="395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40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FC024-A20E-4DEB-90F0-EEB007EA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Export &amp; Reporting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41FDE-7E47-4EFE-86E0-C0535E6BE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2210" y="1671587"/>
            <a:ext cx="8915400" cy="3777622"/>
          </a:xfrm>
        </p:spPr>
        <p:txBody>
          <a:bodyPr/>
          <a:lstStyle/>
          <a:p>
            <a:r>
              <a:rPr lang="en-US" sz="2800" dirty="0"/>
              <a:t>Export filtered data to CSV</a:t>
            </a:r>
          </a:p>
          <a:p>
            <a:r>
              <a:rPr lang="en-US" sz="2800" dirty="0"/>
              <a:t>Generate professional PDF reports</a:t>
            </a:r>
          </a:p>
          <a:p>
            <a:r>
              <a:rPr lang="en-US" sz="2800" dirty="0"/>
              <a:t>Customizable metrics included</a:t>
            </a:r>
          </a:p>
          <a:p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B23D13-0343-4012-B78C-FA078EF07ED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3359216"/>
            <a:ext cx="7988952" cy="342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4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479A7-0B6F-4132-82BC-FB534082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Future Scope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CD01A-165F-4EA2-8610-289E7F49F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Integration with IoT &amp; real-time sensors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Advanced ML prediction models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Mobile app support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Expansion to other regions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48910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B6A2-DD54-4FEC-A4D8-397CC628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Conclusion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B47A4-CEAE-473B-81C1-9543B8572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dirty="0"/>
              <a:t>Hydrolytix bridges the gap between raw agricultural data and meaningful insights, supporting informed decisions for sustainable agriculture.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34071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DB3B-C313-4B05-BA58-3365473F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692" y="2355418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Thank You</a:t>
            </a:r>
            <a:endParaRPr lang="en-PK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D2FB8-F155-46EC-AE97-154DE90F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692" y="-1888811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Hydrolytix: AI-Powered Agri Intelligence</a:t>
            </a:r>
          </a:p>
          <a:p>
            <a:pPr marL="0" indent="0">
              <a:buNone/>
            </a:pPr>
            <a:r>
              <a:rPr lang="en-US" dirty="0"/>
              <a:t>Q&amp;A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08CE3-0073-41FE-88F5-2218E2A3A135}"/>
              </a:ext>
            </a:extLst>
          </p:cNvPr>
          <p:cNvSpPr txBox="1"/>
          <p:nvPr/>
        </p:nvSpPr>
        <p:spPr>
          <a:xfrm>
            <a:off x="2873141" y="3484710"/>
            <a:ext cx="71563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Hydrolytix: AI-Powered Agri Intelligence</a:t>
            </a:r>
          </a:p>
          <a:p>
            <a:pPr algn="ctr"/>
            <a:r>
              <a:rPr lang="en-US" sz="2800" dirty="0"/>
              <a:t>Q&amp;A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15766249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107</TotalTime>
  <Words>312</Words>
  <Application>Microsoft Office PowerPoint</Application>
  <PresentationFormat>Widescreen</PresentationFormat>
  <Paragraphs>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Century Gothic</vt:lpstr>
      <vt:lpstr>Wingdings 3</vt:lpstr>
      <vt:lpstr>Wisp</vt:lpstr>
      <vt:lpstr>Custom Design</vt:lpstr>
      <vt:lpstr>Hydrolytix: AI-Powered Agri Intelligence</vt:lpstr>
      <vt:lpstr>Introduction</vt:lpstr>
      <vt:lpstr>Problem Statement</vt:lpstr>
      <vt:lpstr>Solution Overview</vt:lpstr>
      <vt:lpstr>Objectives of the Project</vt:lpstr>
      <vt:lpstr>System Architecture</vt:lpstr>
      <vt:lpstr>Technology Stack</vt:lpstr>
      <vt:lpstr>Dataset Overview</vt:lpstr>
      <vt:lpstr>Preprocessing Workflow</vt:lpstr>
      <vt:lpstr>Dashboard Features</vt:lpstr>
      <vt:lpstr>Navigation and Layout</vt:lpstr>
      <vt:lpstr>PowerPoint Presentation</vt:lpstr>
      <vt:lpstr>Interactive Visualizations</vt:lpstr>
      <vt:lpstr>Key Performance Indicators (KPIs)</vt:lpstr>
      <vt:lpstr>Year Comparison Tab</vt:lpstr>
      <vt:lpstr>Forecasting Models</vt:lpstr>
      <vt:lpstr>Forecasting Tab</vt:lpstr>
      <vt:lpstr>Trend Analysis Tab</vt:lpstr>
      <vt:lpstr>Export &amp; Reporting</vt:lpstr>
      <vt:lpstr>Future Scope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Quratulain</dc:creator>
  <cp:lastModifiedBy>Muhammad Hasaan</cp:lastModifiedBy>
  <cp:revision>16</cp:revision>
  <dcterms:created xsi:type="dcterms:W3CDTF">2025-07-21T08:09:43Z</dcterms:created>
  <dcterms:modified xsi:type="dcterms:W3CDTF">2025-10-12T13:46:59Z</dcterms:modified>
</cp:coreProperties>
</file>